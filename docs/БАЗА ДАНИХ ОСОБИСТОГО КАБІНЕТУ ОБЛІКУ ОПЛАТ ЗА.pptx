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71" r:id="rId5"/>
    <p:sldId id="270" r:id="rId6"/>
    <p:sldId id="258" r:id="rId7"/>
    <p:sldId id="269" r:id="rId8"/>
    <p:sldId id="261" r:id="rId9"/>
    <p:sldId id="260" r:id="rId10"/>
    <p:sldId id="263" r:id="rId11"/>
    <p:sldId id="259" r:id="rId12"/>
    <p:sldId id="264" r:id="rId13"/>
    <p:sldId id="265" r:id="rId14"/>
    <p:sldId id="266" r:id="rId15"/>
    <p:sldId id="268" r:id="rId16"/>
    <p:sldId id="267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3668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0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68838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2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9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4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060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121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1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5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3F857FE-8A36-4B3B-86BA-52F02D4629AD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C98508-D01B-4994-BBAA-016DB88AF7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503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ru-RU" sz="4400" dirty="0"/>
              <a:t>БАЗА ДАНИХ ОСОБИСТОГО КАБІНЕТУ ОБЛІКУ ОПЛАТ ЗА</a:t>
            </a:r>
            <a:br>
              <a:rPr lang="ru-RU" sz="4400" dirty="0"/>
            </a:br>
            <a:r>
              <a:rPr lang="ru-RU" sz="4400" dirty="0"/>
              <a:t>ЖИТЛОВО-КОМУНАЛЬНІ ПОСЛУГИ</a:t>
            </a:r>
            <a:endParaRPr lang="en-US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15128" y="4317023"/>
            <a:ext cx="6831673" cy="958362"/>
          </a:xfrm>
        </p:spPr>
        <p:txBody>
          <a:bodyPr>
            <a:noAutofit/>
          </a:bodyPr>
          <a:lstStyle/>
          <a:p>
            <a:pPr algn="l"/>
            <a:r>
              <a:rPr lang="uk-UA" sz="2400" dirty="0" smtClean="0"/>
              <a:t>Виконав</a:t>
            </a:r>
            <a:r>
              <a:rPr lang="en-US" sz="2400" dirty="0" smtClean="0"/>
              <a:t>:</a:t>
            </a:r>
            <a:r>
              <a:rPr lang="uk-UA" sz="2400" dirty="0" smtClean="0"/>
              <a:t> </a:t>
            </a:r>
            <a:r>
              <a:rPr lang="uk-UA" sz="2400" dirty="0" err="1" smtClean="0"/>
              <a:t>Піковський</a:t>
            </a:r>
            <a:r>
              <a:rPr lang="uk-UA" sz="2400" dirty="0" smtClean="0"/>
              <a:t> Володимир ІП-33</a:t>
            </a:r>
            <a:endParaRPr lang="en-US" sz="2400" dirty="0" smtClean="0"/>
          </a:p>
          <a:p>
            <a:pPr algn="l"/>
            <a:r>
              <a:rPr lang="uk-UA" sz="2400" dirty="0" smtClean="0"/>
              <a:t>Керівник: </a:t>
            </a:r>
            <a:r>
              <a:rPr lang="uk-UA" sz="2400" dirty="0"/>
              <a:t>доцент, </a:t>
            </a:r>
            <a:r>
              <a:rPr lang="uk-UA" sz="2400" dirty="0" err="1"/>
              <a:t>к.т.н</a:t>
            </a:r>
            <a:r>
              <a:rPr lang="uk-UA" sz="2400" dirty="0" smtClean="0"/>
              <a:t>., </a:t>
            </a:r>
            <a:r>
              <a:rPr lang="uk-UA" sz="2400" dirty="0" err="1" smtClean="0"/>
              <a:t>Ліщук</a:t>
            </a:r>
            <a:r>
              <a:rPr lang="uk-UA" sz="2400" dirty="0" smtClean="0"/>
              <a:t> </a:t>
            </a:r>
            <a:r>
              <a:rPr lang="uk-UA" sz="2400" dirty="0" smtClean="0"/>
              <a:t>Катерина Ігорівна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670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76674" y="2272031"/>
            <a:ext cx="8361229" cy="2098226"/>
          </a:xfrm>
        </p:spPr>
        <p:txBody>
          <a:bodyPr/>
          <a:lstStyle/>
          <a:p>
            <a:r>
              <a:rPr lang="uk-UA" sz="5400" dirty="0" smtClean="0"/>
              <a:t>Опис предметного середовища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3154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27538"/>
            <a:ext cx="9601200" cy="949570"/>
          </a:xfrm>
        </p:spPr>
        <p:txBody>
          <a:bodyPr/>
          <a:lstStyle/>
          <a:p>
            <a:pPr algn="ctr"/>
            <a:r>
              <a:rPr lang="uk-UA" dirty="0"/>
              <a:t>Постановка завдання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477108"/>
            <a:ext cx="9601200" cy="5046784"/>
          </a:xfrm>
        </p:spPr>
        <p:txBody>
          <a:bodyPr/>
          <a:lstStyle/>
          <a:p>
            <a:pPr marL="0" indent="0">
              <a:buNone/>
            </a:pPr>
            <a:r>
              <a:rPr lang="uk-UA" dirty="0" smtClean="0"/>
              <a:t>	</a:t>
            </a:r>
            <a:r>
              <a:rPr lang="uk-UA" sz="2400" dirty="0"/>
              <a:t>Мета - створити базу даних, що буде давати можливість забезпечувати зручне надання житлово-комунальних послуг та вести облік клієнтів, їх лічильників, рахунків та платежів</a:t>
            </a:r>
            <a:r>
              <a:rPr lang="uk-UA" sz="2400" dirty="0" smtClean="0"/>
              <a:t>.</a:t>
            </a:r>
          </a:p>
          <a:p>
            <a:pPr marL="0" indent="0">
              <a:buNone/>
            </a:pPr>
            <a:r>
              <a:rPr lang="uk-UA" sz="2400" dirty="0"/>
              <a:t>	</a:t>
            </a:r>
            <a:r>
              <a:rPr lang="uk-UA" sz="2400" dirty="0" smtClean="0"/>
              <a:t>Необхідно </a:t>
            </a:r>
            <a:r>
              <a:rPr lang="uk-UA" sz="2400" dirty="0"/>
              <a:t>розробити </a:t>
            </a:r>
            <a:r>
              <a:rPr lang="uk-UA" sz="2400" dirty="0" err="1"/>
              <a:t>скрипти</a:t>
            </a:r>
            <a:r>
              <a:rPr lang="uk-UA" sz="2400" dirty="0"/>
              <a:t> для автоматизації деяких процесів – таких як створення платіжок, отримання списку боржників, застосування пільг чи знижок до акцій, можливість отримання </a:t>
            </a:r>
            <a:r>
              <a:rPr lang="uk-UA" sz="2400" dirty="0" err="1"/>
              <a:t>кешбеку</a:t>
            </a:r>
            <a:r>
              <a:rPr lang="uk-UA" sz="2400" dirty="0"/>
              <a:t> за певні послуги тощо. Необхідно розробити кілька режим доступу до бази даних та певні тригери, що спрацьовуватимуть без прямої вказівки </a:t>
            </a:r>
            <a:r>
              <a:rPr lang="uk-UA" sz="2400" dirty="0" smtClean="0"/>
              <a:t>користувача.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5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27538"/>
            <a:ext cx="9601200" cy="949570"/>
          </a:xfrm>
        </p:spPr>
        <p:txBody>
          <a:bodyPr/>
          <a:lstStyle/>
          <a:p>
            <a:pPr algn="ctr"/>
            <a:r>
              <a:rPr lang="uk-UA" dirty="0" smtClean="0"/>
              <a:t>Бізнес-правила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477108"/>
            <a:ext cx="9601200" cy="50467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Поточне</a:t>
            </a:r>
            <a:r>
              <a:rPr lang="ru-RU" sz="2400" dirty="0" smtClean="0"/>
              <a:t> </a:t>
            </a:r>
            <a:r>
              <a:rPr lang="ru-RU" sz="2400" dirty="0" err="1"/>
              <a:t>зчитування</a:t>
            </a:r>
            <a:r>
              <a:rPr lang="ru-RU" sz="2400" dirty="0"/>
              <a:t> </a:t>
            </a:r>
            <a:r>
              <a:rPr lang="ru-RU" sz="2400" dirty="0" err="1"/>
              <a:t>лічильника</a:t>
            </a:r>
            <a:r>
              <a:rPr lang="ru-RU" sz="2400" dirty="0"/>
              <a:t> не </a:t>
            </a:r>
            <a:r>
              <a:rPr lang="ru-RU" sz="2400" dirty="0" err="1"/>
              <a:t>може</a:t>
            </a:r>
            <a:r>
              <a:rPr lang="ru-RU" sz="2400" dirty="0"/>
              <a:t> бути </a:t>
            </a:r>
            <a:r>
              <a:rPr lang="ru-RU" sz="2400" dirty="0" err="1"/>
              <a:t>меншим</a:t>
            </a:r>
            <a:r>
              <a:rPr lang="ru-RU" sz="2400" dirty="0"/>
              <a:t> за </a:t>
            </a:r>
            <a:r>
              <a:rPr lang="ru-RU" sz="2400" dirty="0" err="1"/>
              <a:t>попереднє</a:t>
            </a:r>
            <a:r>
              <a:rPr lang="ru-RU" sz="2400" dirty="0"/>
              <a:t> </a:t>
            </a:r>
            <a:r>
              <a:rPr lang="ru-RU" sz="2400" dirty="0" err="1"/>
              <a:t>зчитування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Дата </a:t>
            </a:r>
            <a:r>
              <a:rPr lang="ru-RU" sz="2400" dirty="0"/>
              <a:t>початку </a:t>
            </a:r>
            <a:r>
              <a:rPr lang="ru-RU" sz="2400" dirty="0" err="1"/>
              <a:t>акції</a:t>
            </a:r>
            <a:r>
              <a:rPr lang="ru-RU" sz="2400" dirty="0"/>
              <a:t> не </a:t>
            </a:r>
            <a:r>
              <a:rPr lang="ru-RU" sz="2400" dirty="0" err="1"/>
              <a:t>може</a:t>
            </a:r>
            <a:r>
              <a:rPr lang="ru-RU" sz="2400" dirty="0"/>
              <a:t> бути </a:t>
            </a:r>
            <a:r>
              <a:rPr lang="ru-RU" sz="2400" dirty="0" err="1"/>
              <a:t>пізніше</a:t>
            </a:r>
            <a:r>
              <a:rPr lang="ru-RU" sz="2400" dirty="0"/>
              <a:t> за дату </a:t>
            </a:r>
            <a:r>
              <a:rPr lang="ru-RU" sz="2400" dirty="0" err="1"/>
              <a:t>її</a:t>
            </a:r>
            <a:r>
              <a:rPr lang="ru-RU" sz="2400" dirty="0"/>
              <a:t> </a:t>
            </a:r>
            <a:r>
              <a:rPr lang="ru-RU" sz="2400" dirty="0" err="1"/>
              <a:t>кінця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Кожному </a:t>
            </a:r>
            <a:r>
              <a:rPr lang="ru-RU" sz="2400" dirty="0" err="1"/>
              <a:t>рахунку</a:t>
            </a:r>
            <a:r>
              <a:rPr lang="ru-RU" sz="2400" dirty="0"/>
              <a:t> повинен </a:t>
            </a:r>
            <a:r>
              <a:rPr lang="ru-RU" sz="2400" dirty="0" err="1"/>
              <a:t>відповідати</a:t>
            </a:r>
            <a:r>
              <a:rPr lang="ru-RU" sz="2400" dirty="0"/>
              <a:t> один </a:t>
            </a:r>
            <a:r>
              <a:rPr lang="ru-RU" sz="2400" dirty="0" err="1"/>
              <a:t>платіж</a:t>
            </a:r>
            <a:r>
              <a:rPr lang="ru-RU" sz="2400" dirty="0"/>
              <a:t>(</a:t>
            </a:r>
            <a:r>
              <a:rPr lang="ru-RU" sz="2400" dirty="0" err="1"/>
              <a:t>тобто</a:t>
            </a:r>
            <a:r>
              <a:rPr lang="ru-RU" sz="2400" dirty="0"/>
              <a:t> </a:t>
            </a:r>
            <a:r>
              <a:rPr lang="ru-RU" sz="2400" dirty="0" err="1"/>
              <a:t>клієнту</a:t>
            </a:r>
            <a:r>
              <a:rPr lang="ru-RU" sz="2400" dirty="0"/>
              <a:t> </a:t>
            </a:r>
            <a:r>
              <a:rPr lang="ru-RU" sz="2400" dirty="0" err="1"/>
              <a:t>потрібно</a:t>
            </a:r>
            <a:r>
              <a:rPr lang="ru-RU" sz="2400" dirty="0"/>
              <a:t> </a:t>
            </a:r>
            <a:r>
              <a:rPr lang="ru-RU" sz="2400" dirty="0" err="1"/>
              <a:t>сплачувати</a:t>
            </a:r>
            <a:r>
              <a:rPr lang="ru-RU" sz="2400" dirty="0"/>
              <a:t> </a:t>
            </a:r>
            <a:r>
              <a:rPr lang="ru-RU" sz="2400" dirty="0" err="1"/>
              <a:t>повну</a:t>
            </a:r>
            <a:r>
              <a:rPr lang="ru-RU" sz="2400" dirty="0"/>
              <a:t> </a:t>
            </a:r>
            <a:r>
              <a:rPr lang="ru-RU" sz="2400" dirty="0" err="1"/>
              <a:t>вартість</a:t>
            </a:r>
            <a:r>
              <a:rPr lang="ru-RU" sz="2400" dirty="0"/>
              <a:t> </a:t>
            </a:r>
            <a:r>
              <a:rPr lang="ru-RU" sz="2400" dirty="0" err="1"/>
              <a:t>послуги</a:t>
            </a:r>
            <a:r>
              <a:rPr lang="ru-RU" sz="2400" dirty="0"/>
              <a:t> за раз)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Необхідно</a:t>
            </a:r>
            <a:r>
              <a:rPr lang="ru-RU" sz="2400" dirty="0" smtClean="0"/>
              <a:t> </a:t>
            </a:r>
            <a:r>
              <a:rPr lang="ru-RU" sz="2400" dirty="0" err="1"/>
              <a:t>реалізувати</a:t>
            </a:r>
            <a:r>
              <a:rPr lang="ru-RU" sz="2400" dirty="0"/>
              <a:t> </a:t>
            </a:r>
            <a:r>
              <a:rPr lang="ru-RU" sz="2400" dirty="0" err="1"/>
              <a:t>пільги</a:t>
            </a:r>
            <a:r>
              <a:rPr lang="ru-RU" sz="2400" dirty="0"/>
              <a:t> для </a:t>
            </a:r>
            <a:r>
              <a:rPr lang="ru-RU" sz="2400" dirty="0" err="1"/>
              <a:t>певних</a:t>
            </a:r>
            <a:r>
              <a:rPr lang="ru-RU" sz="2400" dirty="0"/>
              <a:t> </a:t>
            </a:r>
            <a:r>
              <a:rPr lang="ru-RU" sz="2400" dirty="0" err="1"/>
              <a:t>категорій</a:t>
            </a:r>
            <a:r>
              <a:rPr lang="ru-RU" sz="2400" dirty="0"/>
              <a:t> </a:t>
            </a:r>
            <a:r>
              <a:rPr lang="ru-RU" sz="2400" dirty="0" err="1"/>
              <a:t>населення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Повинні</a:t>
            </a:r>
            <a:r>
              <a:rPr lang="ru-RU" sz="2400" dirty="0" smtClean="0"/>
              <a:t> </a:t>
            </a:r>
            <a:r>
              <a:rPr lang="ru-RU" sz="2400" dirty="0"/>
              <a:t>бути </a:t>
            </a:r>
            <a:r>
              <a:rPr lang="ru-RU" sz="2400" dirty="0" err="1"/>
              <a:t>очевидні</a:t>
            </a:r>
            <a:r>
              <a:rPr lang="ru-RU" sz="2400" dirty="0"/>
              <a:t> </a:t>
            </a:r>
            <a:r>
              <a:rPr lang="ru-RU" sz="2400" dirty="0" err="1"/>
              <a:t>обмеження</a:t>
            </a:r>
            <a:r>
              <a:rPr lang="ru-RU" sz="2400" dirty="0"/>
              <a:t> для </a:t>
            </a:r>
            <a:r>
              <a:rPr lang="ru-RU" sz="2400" dirty="0" err="1"/>
              <a:t>запобігання</a:t>
            </a:r>
            <a:r>
              <a:rPr lang="ru-RU" sz="2400" dirty="0"/>
              <a:t> </a:t>
            </a:r>
            <a:r>
              <a:rPr lang="ru-RU" sz="2400" dirty="0" err="1"/>
              <a:t>помилок</a:t>
            </a:r>
            <a:r>
              <a:rPr lang="ru-RU" sz="2400" dirty="0"/>
              <a:t>(</a:t>
            </a:r>
            <a:r>
              <a:rPr lang="ru-RU" sz="2400" dirty="0" err="1"/>
              <a:t>наприклад</a:t>
            </a:r>
            <a:r>
              <a:rPr lang="ru-RU" sz="2400" dirty="0"/>
              <a:t>, </a:t>
            </a:r>
            <a:r>
              <a:rPr lang="ru-RU" sz="2400" dirty="0" err="1"/>
              <a:t>площа</a:t>
            </a:r>
            <a:r>
              <a:rPr lang="ru-RU" sz="2400" dirty="0"/>
              <a:t> </a:t>
            </a:r>
            <a:r>
              <a:rPr lang="ru-RU" sz="2400" dirty="0" err="1"/>
              <a:t>приміщення</a:t>
            </a:r>
            <a:r>
              <a:rPr lang="ru-RU" sz="2400" dirty="0"/>
              <a:t> </a:t>
            </a:r>
            <a:r>
              <a:rPr lang="ru-RU" sz="2400" dirty="0" err="1"/>
              <a:t>має</a:t>
            </a:r>
            <a:r>
              <a:rPr lang="ru-RU" sz="2400" dirty="0"/>
              <a:t> бути </a:t>
            </a:r>
            <a:r>
              <a:rPr lang="ru-RU" sz="2400" dirty="0" err="1"/>
              <a:t>більше</a:t>
            </a:r>
            <a:r>
              <a:rPr lang="ru-RU" sz="2400" dirty="0"/>
              <a:t> 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0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27538"/>
            <a:ext cx="9601200" cy="949570"/>
          </a:xfrm>
        </p:spPr>
        <p:txBody>
          <a:bodyPr/>
          <a:lstStyle/>
          <a:p>
            <a:pPr algn="ctr"/>
            <a:r>
              <a:rPr lang="uk-UA" dirty="0" smtClean="0"/>
              <a:t>Сутності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477108"/>
            <a:ext cx="9601200" cy="5046784"/>
          </a:xfrm>
        </p:spPr>
        <p:txBody>
          <a:bodyPr/>
          <a:lstStyle/>
          <a:p>
            <a:r>
              <a:rPr lang="uk-UA" dirty="0" smtClean="0"/>
              <a:t>Клієнт</a:t>
            </a:r>
          </a:p>
          <a:p>
            <a:r>
              <a:rPr lang="uk-UA" dirty="0" smtClean="0"/>
              <a:t>Скарга</a:t>
            </a:r>
          </a:p>
          <a:p>
            <a:r>
              <a:rPr lang="uk-UA" dirty="0" smtClean="0"/>
              <a:t>Повідомлення</a:t>
            </a:r>
          </a:p>
          <a:p>
            <a:r>
              <a:rPr lang="uk-UA" dirty="0" smtClean="0"/>
              <a:t>Адміністратор</a:t>
            </a:r>
          </a:p>
          <a:p>
            <a:r>
              <a:rPr lang="uk-UA" dirty="0" smtClean="0"/>
              <a:t>Пільга</a:t>
            </a:r>
          </a:p>
          <a:p>
            <a:r>
              <a:rPr lang="uk-UA" dirty="0" smtClean="0"/>
              <a:t>Приміщення</a:t>
            </a:r>
          </a:p>
          <a:p>
            <a:r>
              <a:rPr lang="uk-UA" dirty="0" smtClean="0"/>
              <a:t>Лічильник</a:t>
            </a:r>
          </a:p>
          <a:p>
            <a:r>
              <a:rPr lang="uk-UA" dirty="0" smtClean="0"/>
              <a:t>Квитанція</a:t>
            </a:r>
          </a:p>
          <a:p>
            <a:r>
              <a:rPr lang="uk-UA" dirty="0" smtClean="0"/>
              <a:t>Платіж</a:t>
            </a:r>
          </a:p>
          <a:p>
            <a:r>
              <a:rPr lang="uk-UA" dirty="0" smtClean="0"/>
              <a:t>Послуга</a:t>
            </a:r>
          </a:p>
          <a:p>
            <a:r>
              <a:rPr lang="uk-UA" dirty="0" smtClean="0"/>
              <a:t>Знижка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2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9862" y="272561"/>
            <a:ext cx="9601200" cy="1485900"/>
          </a:xfrm>
        </p:spPr>
        <p:txBody>
          <a:bodyPr/>
          <a:lstStyle/>
          <a:p>
            <a:pPr algn="ctr"/>
            <a:r>
              <a:rPr lang="en-US" dirty="0" smtClean="0"/>
              <a:t>ER-</a:t>
            </a:r>
            <a:r>
              <a:rPr lang="uk-UA" dirty="0" smtClean="0"/>
              <a:t>модель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77" y="1168150"/>
            <a:ext cx="9788770" cy="533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3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9862" y="272561"/>
            <a:ext cx="9601200" cy="1485900"/>
          </a:xfrm>
        </p:spPr>
        <p:txBody>
          <a:bodyPr/>
          <a:lstStyle/>
          <a:p>
            <a:pPr algn="ctr"/>
            <a:r>
              <a:rPr lang="uk-UA" dirty="0"/>
              <a:t>С</a:t>
            </a:r>
            <a:r>
              <a:rPr lang="uk-UA" dirty="0" smtClean="0"/>
              <a:t>хема БД, </a:t>
            </a:r>
            <a:r>
              <a:rPr lang="uk-UA" dirty="0" err="1" smtClean="0"/>
              <a:t>згенерована</a:t>
            </a:r>
            <a:r>
              <a:rPr lang="uk-UA" dirty="0" smtClean="0"/>
              <a:t> засобом СУБД</a:t>
            </a:r>
            <a:endParaRPr lang="en-US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06652" y="1274884"/>
            <a:ext cx="6847620" cy="509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439615"/>
            <a:ext cx="9601200" cy="1485900"/>
          </a:xfrm>
        </p:spPr>
        <p:txBody>
          <a:bodyPr/>
          <a:lstStyle/>
          <a:p>
            <a:pPr algn="ctr"/>
            <a:r>
              <a:rPr lang="uk-UA" dirty="0" smtClean="0"/>
              <a:t>Ролі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0116" y="2139690"/>
            <a:ext cx="4897315" cy="3581400"/>
          </a:xfrm>
        </p:spPr>
        <p:txBody>
          <a:bodyPr>
            <a:normAutofit/>
          </a:bodyPr>
          <a:lstStyle/>
          <a:p>
            <a:r>
              <a:rPr lang="uk-UA" sz="2400" dirty="0" smtClean="0"/>
              <a:t>Працівник з лічильниками</a:t>
            </a:r>
          </a:p>
          <a:p>
            <a:r>
              <a:rPr lang="uk-UA" sz="2400" dirty="0" smtClean="0"/>
              <a:t>Оператор технічної підтримки</a:t>
            </a:r>
          </a:p>
          <a:p>
            <a:r>
              <a:rPr lang="uk-UA" sz="2400" dirty="0" smtClean="0"/>
              <a:t>Головний адміністратор</a:t>
            </a:r>
            <a:endParaRPr lang="en-US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021" y="1807292"/>
            <a:ext cx="2914057" cy="21230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07292"/>
            <a:ext cx="2539283" cy="2269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8915" y="4229100"/>
            <a:ext cx="5644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Вигляд бази даних для оператора технічної підтримки та працівника з лічильниками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152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6967" y="184638"/>
            <a:ext cx="9601200" cy="978418"/>
          </a:xfrm>
        </p:spPr>
        <p:txBody>
          <a:bodyPr/>
          <a:lstStyle/>
          <a:p>
            <a:pPr algn="ctr"/>
            <a:r>
              <a:rPr lang="uk-UA" dirty="0" smtClean="0"/>
              <a:t>Процедури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06613" y="3015762"/>
            <a:ext cx="780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Процедура </a:t>
            </a:r>
            <a:r>
              <a:rPr lang="en-US" sz="2000" dirty="0" err="1" smtClean="0"/>
              <a:t>CalculateCashbackForClient</a:t>
            </a:r>
            <a:r>
              <a:rPr lang="uk-UA" sz="2000" dirty="0" smtClean="0"/>
              <a:t>, яка </a:t>
            </a:r>
            <a:r>
              <a:rPr lang="ru-RU" sz="2000" dirty="0" err="1" smtClean="0"/>
              <a:t>обчислює</a:t>
            </a:r>
            <a:r>
              <a:rPr lang="ru-RU" sz="2000" dirty="0" smtClean="0"/>
              <a:t> </a:t>
            </a:r>
            <a:r>
              <a:rPr lang="ru-RU" sz="2000" dirty="0" err="1"/>
              <a:t>кешбек</a:t>
            </a:r>
            <a:r>
              <a:rPr lang="ru-RU" sz="2000" dirty="0"/>
              <a:t> для </a:t>
            </a:r>
            <a:r>
              <a:rPr lang="ru-RU" sz="2000" dirty="0" err="1"/>
              <a:t>клієнта</a:t>
            </a:r>
            <a:r>
              <a:rPr lang="ru-RU" sz="2000" dirty="0"/>
              <a:t> </a:t>
            </a:r>
            <a:r>
              <a:rPr lang="ru-RU" sz="2000" dirty="0" err="1"/>
              <a:t>залежно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 smtClean="0"/>
              <a:t>пільг</a:t>
            </a:r>
            <a:r>
              <a:rPr lang="ru-RU" sz="2000" dirty="0" smtClean="0"/>
              <a:t> </a:t>
            </a:r>
            <a:r>
              <a:rPr lang="ru-RU" sz="2000" dirty="0"/>
              <a:t>та </a:t>
            </a:r>
            <a:r>
              <a:rPr lang="ru-RU" sz="2000" dirty="0" err="1"/>
              <a:t>сум</a:t>
            </a:r>
            <a:r>
              <a:rPr lang="ru-RU" sz="2000" dirty="0"/>
              <a:t> </a:t>
            </a:r>
            <a:r>
              <a:rPr lang="ru-RU" sz="2000" dirty="0" err="1"/>
              <a:t>платежів</a:t>
            </a:r>
            <a:r>
              <a:rPr lang="ru-RU" sz="2000" dirty="0"/>
              <a:t>, </a:t>
            </a:r>
            <a:r>
              <a:rPr lang="ru-RU" sz="2000" dirty="0" err="1"/>
              <a:t>зроблених</a:t>
            </a:r>
            <a:r>
              <a:rPr lang="ru-RU" sz="2000" dirty="0"/>
              <a:t> </a:t>
            </a:r>
            <a:r>
              <a:rPr lang="ru-RU" sz="2000" dirty="0" err="1"/>
              <a:t>цього</a:t>
            </a:r>
            <a:r>
              <a:rPr lang="ru-RU" sz="2000" dirty="0"/>
              <a:t> року</a:t>
            </a:r>
            <a:endParaRPr lang="en-US" sz="20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37355" y="990185"/>
            <a:ext cx="5940425" cy="1923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613" y="5470846"/>
            <a:ext cx="7863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Процедура </a:t>
            </a:r>
            <a:r>
              <a:rPr lang="uk-UA" sz="2000" dirty="0" err="1" smtClean="0"/>
              <a:t>UpdateInvoiceStatusForOverdue</a:t>
            </a:r>
            <a:r>
              <a:rPr lang="uk-UA" sz="2000" dirty="0" smtClean="0"/>
              <a:t>, яка </a:t>
            </a:r>
            <a:r>
              <a:rPr lang="ru-RU" sz="2000" dirty="0" err="1" smtClean="0"/>
              <a:t>оновлює</a:t>
            </a:r>
            <a:r>
              <a:rPr lang="ru-RU" sz="2000" dirty="0" smtClean="0"/>
              <a:t> </a:t>
            </a:r>
            <a:r>
              <a:rPr lang="ru-RU" sz="2000" dirty="0"/>
              <a:t>статус </a:t>
            </a:r>
            <a:r>
              <a:rPr lang="ru-RU" sz="2000" dirty="0" err="1"/>
              <a:t>рахунків</a:t>
            </a:r>
            <a:r>
              <a:rPr lang="ru-RU" sz="2000" dirty="0"/>
              <a:t>, </a:t>
            </a:r>
            <a:r>
              <a:rPr lang="ru-RU" sz="2000" dirty="0" err="1"/>
              <a:t>змінюючи</a:t>
            </a:r>
            <a:r>
              <a:rPr lang="ru-RU" sz="2000" dirty="0"/>
              <a:t> </a:t>
            </a:r>
            <a:r>
              <a:rPr lang="ru-RU" sz="2000" dirty="0" err="1"/>
              <a:t>його</a:t>
            </a:r>
            <a:r>
              <a:rPr lang="ru-RU" sz="2000" dirty="0"/>
              <a:t> на "</a:t>
            </a:r>
            <a:r>
              <a:rPr lang="ru-RU" sz="2000" dirty="0" err="1"/>
              <a:t>Overdue</a:t>
            </a:r>
            <a:r>
              <a:rPr lang="ru-RU" sz="2000" dirty="0"/>
              <a:t>" для </a:t>
            </a:r>
            <a:r>
              <a:rPr lang="ru-RU" sz="2000" dirty="0" err="1"/>
              <a:t>прострочених</a:t>
            </a:r>
            <a:r>
              <a:rPr lang="ru-RU" sz="2000" dirty="0"/>
              <a:t> </a:t>
            </a:r>
            <a:r>
              <a:rPr lang="ru-RU" sz="2000" dirty="0" err="1"/>
              <a:t>неоплачених</a:t>
            </a:r>
            <a:r>
              <a:rPr lang="ru-RU" sz="2000" dirty="0"/>
              <a:t> </a:t>
            </a:r>
            <a:r>
              <a:rPr lang="ru-RU" sz="2000" dirty="0" err="1"/>
              <a:t>рахунків</a:t>
            </a:r>
            <a:endParaRPr lang="en-US" sz="2000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774094" y="4031395"/>
            <a:ext cx="7393862" cy="470267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2774094" y="4809409"/>
            <a:ext cx="7393862" cy="5082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2949" y="4081862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До: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06640" y="4840232"/>
            <a:ext cx="76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Після: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94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9862" y="272561"/>
            <a:ext cx="9601200" cy="931994"/>
          </a:xfrm>
        </p:spPr>
        <p:txBody>
          <a:bodyPr/>
          <a:lstStyle/>
          <a:p>
            <a:pPr algn="ctr"/>
            <a:r>
              <a:rPr lang="uk-UA" dirty="0" smtClean="0"/>
              <a:t>Функції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15404" y="5495453"/>
            <a:ext cx="780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Функція </a:t>
            </a:r>
            <a:r>
              <a:rPr lang="en-US" sz="2000" dirty="0" err="1" smtClean="0"/>
              <a:t>GetClientDebt</a:t>
            </a:r>
            <a:r>
              <a:rPr lang="uk-UA" sz="2000" dirty="0" smtClean="0"/>
              <a:t> п</a:t>
            </a:r>
            <a:r>
              <a:rPr lang="ru-RU" sz="2000" dirty="0" err="1" smtClean="0"/>
              <a:t>овертає</a:t>
            </a:r>
            <a:r>
              <a:rPr lang="ru-RU" sz="2000" dirty="0" smtClean="0"/>
              <a:t> </a:t>
            </a:r>
            <a:r>
              <a:rPr lang="ru-RU" sz="2000" dirty="0" err="1"/>
              <a:t>загальну</a:t>
            </a:r>
            <a:r>
              <a:rPr lang="ru-RU" sz="2000" dirty="0"/>
              <a:t> суму </a:t>
            </a:r>
            <a:r>
              <a:rPr lang="ru-RU" sz="2000" dirty="0" err="1"/>
              <a:t>боргів</a:t>
            </a:r>
            <a:r>
              <a:rPr lang="ru-RU" sz="2000" dirty="0"/>
              <a:t> </a:t>
            </a:r>
            <a:r>
              <a:rPr lang="ru-RU" sz="2000" dirty="0" err="1"/>
              <a:t>клієнта</a:t>
            </a:r>
            <a:r>
              <a:rPr lang="ru-RU" sz="2000" dirty="0"/>
              <a:t> за </a:t>
            </a:r>
            <a:r>
              <a:rPr lang="ru-RU" sz="2000" dirty="0" err="1"/>
              <a:t>всі</a:t>
            </a:r>
            <a:r>
              <a:rPr lang="ru-RU" sz="2000" dirty="0"/>
              <a:t> </a:t>
            </a:r>
            <a:r>
              <a:rPr lang="ru-RU" sz="2000" dirty="0" err="1"/>
              <a:t>неоплачені</a:t>
            </a:r>
            <a:r>
              <a:rPr lang="ru-RU" sz="2000" dirty="0"/>
              <a:t> </a:t>
            </a:r>
            <a:r>
              <a:rPr lang="ru-RU" sz="2000" dirty="0" err="1"/>
              <a:t>рахунки</a:t>
            </a:r>
            <a:endParaRPr lang="en-US" sz="20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153999" y="1278914"/>
            <a:ext cx="4352925" cy="343852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42229" y="1204555"/>
            <a:ext cx="5148263" cy="40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2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9862" y="272561"/>
            <a:ext cx="9601200" cy="1485900"/>
          </a:xfrm>
        </p:spPr>
        <p:txBody>
          <a:bodyPr/>
          <a:lstStyle/>
          <a:p>
            <a:pPr algn="ctr"/>
            <a:r>
              <a:rPr lang="uk-UA" dirty="0" smtClean="0"/>
              <a:t>Представлення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01" y="1365279"/>
            <a:ext cx="8939522" cy="44991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15406" y="5978768"/>
            <a:ext cx="7801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Представлення, яке відображає інформацію про клієнтів та їх пільги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142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9862" y="292141"/>
            <a:ext cx="9601200" cy="1092718"/>
          </a:xfrm>
        </p:spPr>
        <p:txBody>
          <a:bodyPr/>
          <a:lstStyle/>
          <a:p>
            <a:pPr algn="ctr"/>
            <a:r>
              <a:rPr lang="uk-UA" dirty="0" smtClean="0"/>
              <a:t>Тригери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98582" y="3745520"/>
            <a:ext cx="8849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Тригер </a:t>
            </a:r>
            <a:r>
              <a:rPr lang="en-US" sz="2000" dirty="0" err="1" smtClean="0"/>
              <a:t>ApplyDiscountToInvoice</a:t>
            </a:r>
            <a:r>
              <a:rPr lang="en-US" sz="2000" dirty="0" smtClean="0"/>
              <a:t> </a:t>
            </a:r>
            <a:r>
              <a:rPr lang="uk-UA" sz="2000" dirty="0" smtClean="0"/>
              <a:t>застосовує </a:t>
            </a:r>
            <a:r>
              <a:rPr lang="uk-UA" sz="2000" dirty="0"/>
              <a:t>діючу знижку до створеного рахунку</a:t>
            </a:r>
            <a:endParaRPr lang="en-US" sz="2000" dirty="0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941639" y="1558439"/>
            <a:ext cx="8777646" cy="65116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1927643" y="2873023"/>
            <a:ext cx="8791642" cy="5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0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5761" y="386861"/>
            <a:ext cx="9601200" cy="978417"/>
          </a:xfrm>
        </p:spPr>
        <p:txBody>
          <a:bodyPr/>
          <a:lstStyle/>
          <a:p>
            <a:pPr algn="ctr"/>
            <a:r>
              <a:rPr lang="ru-RU" dirty="0" err="1" smtClean="0"/>
              <a:t>Запити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15405" y="4519245"/>
            <a:ext cx="780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/>
              <a:t>Цей</a:t>
            </a:r>
            <a:r>
              <a:rPr lang="ru-RU" sz="2000" dirty="0"/>
              <a:t> запит </a:t>
            </a:r>
            <a:r>
              <a:rPr lang="ru-RU" sz="2000" dirty="0" err="1"/>
              <a:t>відображає</a:t>
            </a:r>
            <a:r>
              <a:rPr lang="ru-RU" sz="2000" dirty="0"/>
              <a:t> </a:t>
            </a:r>
            <a:r>
              <a:rPr lang="ru-RU" sz="2000" dirty="0" err="1"/>
              <a:t>послуги</a:t>
            </a:r>
            <a:r>
              <a:rPr lang="ru-RU" sz="2000" dirty="0"/>
              <a:t>, на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діють</a:t>
            </a:r>
            <a:r>
              <a:rPr lang="ru-RU" sz="2000" dirty="0"/>
              <a:t> </a:t>
            </a:r>
            <a:r>
              <a:rPr lang="ru-RU" sz="2000" dirty="0" err="1"/>
              <a:t>активні</a:t>
            </a:r>
            <a:r>
              <a:rPr lang="ru-RU" sz="2000" dirty="0"/>
              <a:t> </a:t>
            </a:r>
            <a:r>
              <a:rPr lang="ru-RU" sz="2000" dirty="0" err="1"/>
              <a:t>знижки</a:t>
            </a:r>
            <a:r>
              <a:rPr lang="ru-RU" sz="2000" dirty="0"/>
              <a:t>, разом з </a:t>
            </a:r>
            <a:r>
              <a:rPr lang="ru-RU" sz="2000" dirty="0" err="1"/>
              <a:t>назвою</a:t>
            </a:r>
            <a:r>
              <a:rPr lang="ru-RU" sz="2000" dirty="0"/>
              <a:t> </a:t>
            </a:r>
            <a:r>
              <a:rPr lang="ru-RU" sz="2000" dirty="0" err="1"/>
              <a:t>знижки</a:t>
            </a:r>
            <a:r>
              <a:rPr lang="ru-RU" sz="2000" dirty="0"/>
              <a:t> та </a:t>
            </a:r>
            <a:r>
              <a:rPr lang="ru-RU" sz="2000" dirty="0" err="1"/>
              <a:t>її</a:t>
            </a:r>
            <a:r>
              <a:rPr lang="ru-RU" sz="2000" dirty="0"/>
              <a:t> </a:t>
            </a:r>
            <a:r>
              <a:rPr lang="ru-RU" sz="2000" dirty="0" err="1"/>
              <a:t>відсотком</a:t>
            </a:r>
            <a:endParaRPr lang="en-US" sz="20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88681" y="1365279"/>
            <a:ext cx="8455360" cy="295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5761" y="386861"/>
            <a:ext cx="9601200" cy="978417"/>
          </a:xfrm>
        </p:spPr>
        <p:txBody>
          <a:bodyPr/>
          <a:lstStyle/>
          <a:p>
            <a:pPr algn="ctr"/>
            <a:r>
              <a:rPr lang="ru-RU" dirty="0" err="1" smtClean="0"/>
              <a:t>Запити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70657" y="5363307"/>
            <a:ext cx="7891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 smtClean="0"/>
              <a:t>Цей</a:t>
            </a:r>
            <a:r>
              <a:rPr lang="ru-RU" sz="2000" dirty="0" smtClean="0"/>
              <a:t> </a:t>
            </a:r>
            <a:r>
              <a:rPr lang="ru-RU" sz="2000" dirty="0"/>
              <a:t>запит </a:t>
            </a:r>
            <a:r>
              <a:rPr lang="ru-RU" sz="2000" dirty="0" err="1"/>
              <a:t>показує</a:t>
            </a:r>
            <a:r>
              <a:rPr lang="ru-RU" sz="2000" dirty="0"/>
              <a:t> список </a:t>
            </a:r>
            <a:r>
              <a:rPr lang="ru-RU" sz="2000" dirty="0" err="1"/>
              <a:t>клієнтів</a:t>
            </a:r>
            <a:r>
              <a:rPr lang="ru-RU" sz="2000" dirty="0"/>
              <a:t> </a:t>
            </a:r>
            <a:r>
              <a:rPr lang="ru-RU" sz="2000" dirty="0" err="1"/>
              <a:t>із</a:t>
            </a:r>
            <a:r>
              <a:rPr lang="ru-RU" sz="2000" dirty="0"/>
              <a:t> </a:t>
            </a:r>
            <a:r>
              <a:rPr lang="ru-RU" sz="2000" dirty="0" err="1"/>
              <a:t>зазначенням</a:t>
            </a:r>
            <a:r>
              <a:rPr lang="ru-RU" sz="2000" dirty="0"/>
              <a:t> </a:t>
            </a:r>
            <a:r>
              <a:rPr lang="ru-RU" sz="2000" dirty="0" err="1"/>
              <a:t>їх</a:t>
            </a:r>
            <a:r>
              <a:rPr lang="ru-RU" sz="2000" dirty="0"/>
              <a:t> </a:t>
            </a:r>
            <a:r>
              <a:rPr lang="ru-RU" sz="2000" dirty="0" err="1"/>
              <a:t>поточної</a:t>
            </a:r>
            <a:r>
              <a:rPr lang="ru-RU" sz="2000" dirty="0"/>
              <a:t> </a:t>
            </a:r>
            <a:r>
              <a:rPr lang="ru-RU" sz="2000" dirty="0" err="1" smtClean="0"/>
              <a:t>заборгованості,використовуючи</a:t>
            </a:r>
            <a:r>
              <a:rPr lang="ru-RU" sz="2000" dirty="0" smtClean="0"/>
              <a:t> </a:t>
            </a:r>
            <a:r>
              <a:rPr lang="ru-RU" sz="2000" dirty="0" err="1" smtClean="0"/>
              <a:t>функцію</a:t>
            </a:r>
            <a:r>
              <a:rPr lang="ru-RU" sz="2000" dirty="0" smtClean="0"/>
              <a:t> </a:t>
            </a:r>
            <a:r>
              <a:rPr lang="en-US" sz="2000" dirty="0" err="1" smtClean="0"/>
              <a:t>GetClientDebt</a:t>
            </a:r>
            <a:endParaRPr lang="en-US" sz="2000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86284" y="1084375"/>
            <a:ext cx="7460151" cy="41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7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8993" y="589084"/>
            <a:ext cx="9601200" cy="967154"/>
          </a:xfrm>
        </p:spPr>
        <p:txBody>
          <a:bodyPr/>
          <a:lstStyle/>
          <a:p>
            <a:pPr algn="ctr"/>
            <a:r>
              <a:rPr lang="uk-UA" dirty="0" smtClean="0"/>
              <a:t>Оптимізація запитів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8993" y="5574323"/>
            <a:ext cx="9601200" cy="4923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sz="2400" dirty="0" smtClean="0"/>
              <a:t>Оптимізуємо запит за допомогою створення індексу</a:t>
            </a:r>
            <a:endParaRPr lang="en-US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457" y="1556238"/>
            <a:ext cx="5706271" cy="29722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67" y="4827519"/>
            <a:ext cx="537285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2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3619" y="172533"/>
            <a:ext cx="9601200" cy="978417"/>
          </a:xfrm>
        </p:spPr>
        <p:txBody>
          <a:bodyPr/>
          <a:lstStyle/>
          <a:p>
            <a:pPr algn="ctr"/>
            <a:r>
              <a:rPr lang="ru-RU" dirty="0" err="1"/>
              <a:t>О</a:t>
            </a:r>
            <a:r>
              <a:rPr lang="ru-RU" dirty="0" err="1" smtClean="0"/>
              <a:t>птимізація</a:t>
            </a:r>
            <a:r>
              <a:rPr lang="ru-RU" dirty="0" smtClean="0"/>
              <a:t> </a:t>
            </a:r>
            <a:r>
              <a:rPr lang="ru-RU" dirty="0" err="1" smtClean="0"/>
              <a:t>запитів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68517" y="5915349"/>
            <a:ext cx="7891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dirty="0" smtClean="0"/>
              <a:t>Аналіз запиту за допомогою інструменту </a:t>
            </a:r>
            <a:r>
              <a:rPr lang="en-US" sz="2000" dirty="0" smtClean="0"/>
              <a:t>Explain </a:t>
            </a:r>
            <a:r>
              <a:rPr lang="en-US" sz="2000" dirty="0" err="1" smtClean="0"/>
              <a:t>analyse</a:t>
            </a:r>
            <a:r>
              <a:rPr lang="uk-UA" sz="2000" dirty="0" smtClean="0"/>
              <a:t> до та після створення індексу</a:t>
            </a:r>
            <a:endParaRPr lang="en-US" sz="2000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16682" y="881701"/>
            <a:ext cx="7211453" cy="2542364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916682" y="3596650"/>
            <a:ext cx="7195074" cy="23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0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27538"/>
            <a:ext cx="9601200" cy="949570"/>
          </a:xfrm>
        </p:spPr>
        <p:txBody>
          <a:bodyPr/>
          <a:lstStyle/>
          <a:p>
            <a:pPr algn="ctr"/>
            <a:r>
              <a:rPr lang="uk-UA" dirty="0" smtClean="0"/>
              <a:t>Висновки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477108"/>
            <a:ext cx="9601200" cy="50467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/>
              <a:t>	</a:t>
            </a:r>
            <a:r>
              <a:rPr lang="uk-UA" sz="2400" dirty="0"/>
              <a:t>Під час написання курсової роботи з дисципліни “Бази даних” мною було проаналізоване предметне середовище, та програмні рішення. На основі аналізу цих пунктів було розроблено мету та задачу курсової роботи та сформульовано бізнес-правила. Потім було створено </a:t>
            </a:r>
            <a:r>
              <a:rPr lang="en-US" sz="2400" dirty="0"/>
              <a:t>ER-</a:t>
            </a:r>
            <a:r>
              <a:rPr lang="uk-UA" sz="2400" dirty="0"/>
              <a:t>модель й реалізовано її в СУБД </a:t>
            </a:r>
            <a:r>
              <a:rPr lang="en-US" sz="2400" dirty="0"/>
              <a:t>MySQL. </a:t>
            </a:r>
            <a:r>
              <a:rPr lang="uk-UA" sz="2400" dirty="0"/>
              <a:t>Далі були створені ролі та користувачі, генератори, збережені процедури/функції, тригери, тексти представлень, </a:t>
            </a:r>
            <a:r>
              <a:rPr lang="en-US" sz="2400" dirty="0"/>
              <a:t>SQL-</a:t>
            </a:r>
            <a:r>
              <a:rPr lang="uk-UA" sz="2400" dirty="0"/>
              <a:t>запити, було оптимізовано роботу БД за допомогою індексів.</a:t>
            </a:r>
          </a:p>
          <a:p>
            <a:pPr marL="0" indent="0">
              <a:buNone/>
            </a:pPr>
            <a:r>
              <a:rPr lang="uk-UA" sz="2400" dirty="0" smtClean="0"/>
              <a:t>	Реалізовано </a:t>
            </a:r>
            <a:r>
              <a:rPr lang="uk-UA" sz="2400" dirty="0"/>
              <a:t>сформульовані бізнес-правила у вигляді обмежень для таблиць, процедур, тригерів тощо. В результаті  створено базу даних, що здатна забезпечувати надання житлово-комунальних послуг з можливістю ведення обліку клієнтів, послуг, рахунків та </a:t>
            </a:r>
            <a:r>
              <a:rPr lang="uk-UA" sz="2400" dirty="0" smtClean="0"/>
              <a:t>платежів, спрощує робочий процес для користувачів та дозволяє отримувати зведені дані.</a:t>
            </a:r>
            <a:endParaRPr lang="uk-UA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2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2423" y="2523392"/>
            <a:ext cx="9601200" cy="1485900"/>
          </a:xfrm>
        </p:spPr>
        <p:txBody>
          <a:bodyPr/>
          <a:lstStyle/>
          <a:p>
            <a:pPr algn="ctr"/>
            <a:r>
              <a:rPr lang="uk-UA" dirty="0" smtClean="0"/>
              <a:t>Дякую за увагу!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69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504</TotalTime>
  <Words>258</Words>
  <Application>Microsoft Office PowerPoint</Application>
  <PresentationFormat>Широкоэкранный</PresentationFormat>
  <Paragraphs>55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0" baseType="lpstr">
      <vt:lpstr>Franklin Gothic Book</vt:lpstr>
      <vt:lpstr>Crop</vt:lpstr>
      <vt:lpstr>БАЗА ДАНИХ ОСОБИСТОГО КАБІНЕТУ ОБЛІКУ ОПЛАТ ЗА ЖИТЛОВО-КОМУНАЛЬНІ ПОСЛУГИ</vt:lpstr>
      <vt:lpstr>Опис предметного середовища</vt:lpstr>
      <vt:lpstr>Постановка завдання</vt:lpstr>
      <vt:lpstr>Бізнес-правила</vt:lpstr>
      <vt:lpstr>Сутності</vt:lpstr>
      <vt:lpstr>ER-модель</vt:lpstr>
      <vt:lpstr>Схема БД, згенерована засобом СУБД</vt:lpstr>
      <vt:lpstr>Ролі</vt:lpstr>
      <vt:lpstr>Процедури</vt:lpstr>
      <vt:lpstr>Функції</vt:lpstr>
      <vt:lpstr>Представлення</vt:lpstr>
      <vt:lpstr>Тригери</vt:lpstr>
      <vt:lpstr>Запити</vt:lpstr>
      <vt:lpstr>Запити</vt:lpstr>
      <vt:lpstr>Оптимізація запитів</vt:lpstr>
      <vt:lpstr>Оптимізація запитів</vt:lpstr>
      <vt:lpstr>Висновки</vt:lpstr>
      <vt:lpstr>Дякую за увагу!</vt:lpstr>
    </vt:vector>
  </TitlesOfParts>
  <Company>NUBIP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ДАНИХ ОСОБИСТОГО КАБІНЕТУ ОБЛІКУ ОПЛАТ ЗА ЖИТЛОВО-КОМУНАЛЬНІ ПОСЛУГИ</dc:title>
  <dc:creator>USER</dc:creator>
  <cp:lastModifiedBy>USER</cp:lastModifiedBy>
  <cp:revision>23</cp:revision>
  <dcterms:created xsi:type="dcterms:W3CDTF">2024-12-30T00:02:19Z</dcterms:created>
  <dcterms:modified xsi:type="dcterms:W3CDTF">2024-12-30T22:12:04Z</dcterms:modified>
</cp:coreProperties>
</file>